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al Bold" charset="1" panose="020B0704020202020204"/>
      <p:regular r:id="rId27"/>
    </p:embeddedFont>
    <p:embeddedFont>
      <p:font typeface="Arial" charset="1" panose="020B0604020202020204"/>
      <p:regular r:id="rId28"/>
    </p:embeddedFont>
    <p:embeddedFont>
      <p:font typeface="Courier New" charset="1" panose="020703090202050204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anketKolhe2005/AI-Interview-Trainer-Agen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5880" y="2760345"/>
            <a:ext cx="1380744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IBM University Engagement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5880" y="3661410"/>
            <a:ext cx="1380744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Project Submission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1560" y="4758690"/>
            <a:ext cx="14356080" cy="95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AI Interview Trainer Agent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5787390"/>
            <a:ext cx="1353312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Exploring the Power of Agentic AI with IBM Granite and IBM Bob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97280" y="3360420"/>
          <a:ext cx="14401800" cy="2421731"/>
        </p:xfrm>
        <a:graphic>
          <a:graphicData uri="http://schemas.openxmlformats.org/drawingml/2006/table">
            <a:tbl>
              <a:tblPr/>
              <a:tblGrid>
                <a:gridCol w="3600450"/>
                <a:gridCol w="3600450"/>
                <a:gridCol w="3600450"/>
                <a:gridCol w="3600450"/>
              </a:tblGrid>
              <a:tr h="10498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Student Name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89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Recent Passport Photo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89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Email 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89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Mobile number [WhatsApp]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896"/>
                    </a:solidFill>
                  </a:tcPr>
                </a:tc>
              </a:tr>
              <a:tr h="13719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Sanket Kolhe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sanket.kolhe@mitaoe.ac.in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7385740431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5937155" y="4547052"/>
            <a:ext cx="880732" cy="1046932"/>
          </a:xfrm>
          <a:custGeom>
            <a:avLst/>
            <a:gdLst/>
            <a:ahLst/>
            <a:cxnLst/>
            <a:rect r="r" b="b" t="t" l="l"/>
            <a:pathLst>
              <a:path h="1046932" w="880732">
                <a:moveTo>
                  <a:pt x="0" y="0"/>
                </a:moveTo>
                <a:lnTo>
                  <a:pt x="880732" y="0"/>
                </a:lnTo>
                <a:lnTo>
                  <a:pt x="880732" y="1046932"/>
                </a:lnTo>
                <a:lnTo>
                  <a:pt x="0" y="1046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Project Title &amp; Student Details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8720" y="1457325"/>
            <a:ext cx="1421892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Project Title – AI Interview Trainer Agent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" y="2280285"/>
            <a:ext cx="1421892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Domain – Education / Career Development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– AI Interview Trainer Agent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0140" y="1466850"/>
            <a:ext cx="14630400" cy="80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Candidates often struggle to prepare for interviews because relevant technical, role-specific, HR, and behavioral questions are scattered across different sources.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Generic interview preparation does not adapt well to a candidate’s job role, experience level, skills, or background.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Candidates also need structured model answers, actionable improvement feedback, mock interview practice, and a clear preparation plan.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 AI-powered Interview Trainer Agent that uses Retrieval-Augmented Generation (RAG), IBM Granite, and agentic workflows to create personalized interview preparation.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– AI Interview Trainer Agent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0140" y="1466850"/>
            <a:ext cx="14630400" cy="80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personalized interview preparation system built with IBM Granite through IBM watsonx.ai, RAG, ChromaDB, and a Gradio interface.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candidate provides role, experience, skills, and professional background.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RAG pipeline retrieves relevant interview knowledge before content generation.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generates technical, role-specific, HR, and behavioral questions with model answers, tips, and a 7-day strategy.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 Evaluation provides a score, strengths, weaknesses, technical accuracy, communication feedback, and improvement suggestions.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Mock Interview conducts a stateful interview one question at a time and produces final performance feedback.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8720" y="1407795"/>
            <a:ext cx="14218920" cy="801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Bob – used during project development, coding, testing, and workflow implementation.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– ibm/granite-4-h-small for AI-powered generation through IBM watsonx.ai.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 / Watson Machine Learning – model runtime and API access.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– retrieves relevant knowledge before generation to improve context and relevance.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ChromaDB – local persistent vector store for semantic retrieval.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Transformers – all-MiniLM-L6-v2 for local embeddings.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 – document processing and RAG pipeline components.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Gradio – interactive web interface.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+ Pytest – application development and testing.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Required Files Created / Implemented Using IBM Bob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29535" y="1440180"/>
            <a:ext cx="14411601" cy="8092440"/>
            <a:chOff x="0" y="0"/>
            <a:chExt cx="19215468" cy="10789920"/>
          </a:xfrm>
        </p:grpSpPr>
        <p:sp>
          <p:nvSpPr>
            <p:cNvPr name="Freeform 4" id="4" descr="b3581580-ecc9-4df2-bafa-6579b79c3096.png"/>
            <p:cNvSpPr/>
            <p:nvPr/>
          </p:nvSpPr>
          <p:spPr>
            <a:xfrm flipH="false" flipV="false" rot="0">
              <a:off x="0" y="0"/>
              <a:ext cx="19215481" cy="10789920"/>
            </a:xfrm>
            <a:custGeom>
              <a:avLst/>
              <a:gdLst/>
              <a:ahLst/>
              <a:cxnLst/>
              <a:rect r="r" b="b" t="t" l="l"/>
              <a:pathLst>
                <a:path h="10789920" w="19215481">
                  <a:moveTo>
                    <a:pt x="0" y="0"/>
                  </a:moveTo>
                  <a:lnTo>
                    <a:pt x="19215481" y="0"/>
                  </a:lnTo>
                  <a:lnTo>
                    <a:pt x="19215481" y="10789920"/>
                  </a:lnTo>
                  <a:lnTo>
                    <a:pt x="0" y="10789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63040" y="8883015"/>
            <a:ext cx="1353312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IBM Bob project implementation status and completed development tasks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IBM Bob Development &amp; Validation Screenshot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47480" y="1440180"/>
            <a:ext cx="14375721" cy="8092440"/>
            <a:chOff x="0" y="0"/>
            <a:chExt cx="19167627" cy="10789920"/>
          </a:xfrm>
        </p:grpSpPr>
        <p:sp>
          <p:nvSpPr>
            <p:cNvPr name="Freeform 4" id="4" descr="0cbc2df5-c254-4306-947e-19bf189d09e0.png"/>
            <p:cNvSpPr/>
            <p:nvPr/>
          </p:nvSpPr>
          <p:spPr>
            <a:xfrm flipH="false" flipV="false" rot="0">
              <a:off x="0" y="0"/>
              <a:ext cx="19167602" cy="10789920"/>
            </a:xfrm>
            <a:custGeom>
              <a:avLst/>
              <a:gdLst/>
              <a:ahLst/>
              <a:cxnLst/>
              <a:rect r="r" b="b" t="t" l="l"/>
              <a:pathLst>
                <a:path h="10789920" w="19167602">
                  <a:moveTo>
                    <a:pt x="0" y="0"/>
                  </a:moveTo>
                  <a:lnTo>
                    <a:pt x="19167602" y="0"/>
                  </a:lnTo>
                  <a:lnTo>
                    <a:pt x="19167602" y="10789920"/>
                  </a:lnTo>
                  <a:lnTo>
                    <a:pt x="0" y="10789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8720" y="8883015"/>
            <a:ext cx="1408176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Knowledge-base validation and application-readiness checks performed during development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-190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Architecture Blueprint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8034" y="1101090"/>
            <a:ext cx="16541999" cy="902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Candidate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↓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Gradio Web Interface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↓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Profile Parser → Structured User Profile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↓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Interview Orchestrator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├── Question Generator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├── Answer Generator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├── Answer Evaluator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├── Feedback Agent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└── Mock Interviewer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↓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   RAG Retrieval Layer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Document Loader → Chunking → Embeddings → ChromaDB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↓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    Relevant Context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↓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IBM Granite via watsonx.ai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↓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323"/>
                </a:solidFill>
                <a:latin typeface="Courier New"/>
                <a:ea typeface="Courier New"/>
                <a:cs typeface="Courier New"/>
                <a:sym typeface="Courier New"/>
              </a:rPr>
              <a:t>Questions • Model Answers • Tips • Evaluation • Mock Feedback • 7-Day Plan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RAG Pipeline &amp; Data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8720" y="1466850"/>
            <a:ext cx="14218920" cy="78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Curated knowledge base stores technical, HR, behavioral, role-specific, and interview-preparation content.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Documents are loaded and split into manageable chunks.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Sentence-transformer embeddings convert text into vector representations.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ChromaDB stores the vectors for semantic retrieval.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A user profile and interview request are used to retrieve relevant context.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Retrieved context is combined with prompts and passed to IBM Granite.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Generated content is formatted into the Interview Kit and evaluation/feedback outputs.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Role of Agentic AI in the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8720" y="1466850"/>
            <a:ext cx="14218920" cy="78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makes the application more than a static question generator by coordinating multiple specialized workflows.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 generation focuses on technical, role-specific, HR, and behavioral preparation.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 evaluation analyzes candidate responses and produces structured feedback.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Mock Interviewer maintains session state, asks questions sequentially, and processes submitted answers.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Feedback Agent combines performance information into an overall assessment and 7-day preparation plan.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is profile-aware: role, experience, skills, and background influence the generated preparation content.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Implementation, Testing &amp; Reliability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8720" y="1466850"/>
            <a:ext cx="14218920" cy="78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Bob was used during implementation to create and refine the project files, prompts, RAG components, agent modules, UI, testing, and documentation.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project includes automated tests, application import checks, prompt validation, knowledge-base validation, and UI handler checks.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application handles missing or unavailable IBM credentials gracefully.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IBM Granite is unavailable because of service or token-quota limitations, supported flows use Local Fallback Mode so the demonstration can continue.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UI clearly indicates when a local fallback is being used rather than silently presenting it as live Granite output.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Project Output Screenshot – Interview Kit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0060" y="3223889"/>
            <a:ext cx="7520940" cy="3595781"/>
            <a:chOff x="0" y="0"/>
            <a:chExt cx="10515600" cy="5027536"/>
          </a:xfrm>
        </p:grpSpPr>
        <p:sp>
          <p:nvSpPr>
            <p:cNvPr name="Freeform 4" id="4" descr="197fda28-6475-4da0-9653-5c4b1783eadf.png"/>
            <p:cNvSpPr/>
            <p:nvPr/>
          </p:nvSpPr>
          <p:spPr>
            <a:xfrm flipH="false" flipV="false" rot="0">
              <a:off x="0" y="0"/>
              <a:ext cx="10515600" cy="5027549"/>
            </a:xfrm>
            <a:custGeom>
              <a:avLst/>
              <a:gdLst/>
              <a:ahLst/>
              <a:cxnLst/>
              <a:rect r="r" b="b" t="t" l="l"/>
              <a:pathLst>
                <a:path h="5027549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5027549"/>
                  </a:lnTo>
                  <a:lnTo>
                    <a:pt x="0" y="5027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95360" y="2459546"/>
            <a:ext cx="7886700" cy="5367909"/>
            <a:chOff x="0" y="0"/>
            <a:chExt cx="10515600" cy="7157212"/>
          </a:xfrm>
        </p:grpSpPr>
        <p:sp>
          <p:nvSpPr>
            <p:cNvPr name="Freeform 6" id="6" descr="56108b28-3da3-4192-b439-ab0c8aaef83e.png"/>
            <p:cNvSpPr/>
            <p:nvPr/>
          </p:nvSpPr>
          <p:spPr>
            <a:xfrm flipH="false" flipV="false" rot="0">
              <a:off x="0" y="0"/>
              <a:ext cx="10515600" cy="7157212"/>
            </a:xfrm>
            <a:custGeom>
              <a:avLst/>
              <a:gdLst/>
              <a:ahLst/>
              <a:cxnLst/>
              <a:rect r="r" b="b" t="t" l="l"/>
              <a:pathLst>
                <a:path h="7157212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7157212"/>
                  </a:lnTo>
                  <a:lnTo>
                    <a:pt x="0" y="7157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8841867"/>
            <a:ext cx="715518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1. Project Overview &amp; Candidate Profile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5360" y="8841867"/>
            <a:ext cx="715518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2. Generated Interview Questions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Project Output Screenshot – Preparation Content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0060" y="2457755"/>
            <a:ext cx="7886700" cy="5302910"/>
            <a:chOff x="0" y="0"/>
            <a:chExt cx="10515600" cy="7070547"/>
          </a:xfrm>
        </p:grpSpPr>
        <p:sp>
          <p:nvSpPr>
            <p:cNvPr name="Freeform 4" id="4" descr="949d9238-306e-46d2-827a-177441255582.png"/>
            <p:cNvSpPr/>
            <p:nvPr/>
          </p:nvSpPr>
          <p:spPr>
            <a:xfrm flipH="false" flipV="false" rot="0">
              <a:off x="0" y="0"/>
              <a:ext cx="10515600" cy="7070598"/>
            </a:xfrm>
            <a:custGeom>
              <a:avLst/>
              <a:gdLst/>
              <a:ahLst/>
              <a:cxnLst/>
              <a:rect r="r" b="b" t="t" l="l"/>
              <a:pathLst>
                <a:path h="7070598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7070598"/>
                  </a:lnTo>
                  <a:lnTo>
                    <a:pt x="0" y="7070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641080" y="3940569"/>
            <a:ext cx="7886700" cy="2090395"/>
            <a:chOff x="0" y="0"/>
            <a:chExt cx="10515600" cy="2787193"/>
          </a:xfrm>
        </p:grpSpPr>
        <p:sp>
          <p:nvSpPr>
            <p:cNvPr name="Freeform 6" id="6" descr="1d55c38b-4655-45f0-95d9-c79d04aa6516.png"/>
            <p:cNvSpPr/>
            <p:nvPr/>
          </p:nvSpPr>
          <p:spPr>
            <a:xfrm flipH="false" flipV="false" rot="0">
              <a:off x="0" y="0"/>
              <a:ext cx="10515600" cy="2787142"/>
            </a:xfrm>
            <a:custGeom>
              <a:avLst/>
              <a:gdLst/>
              <a:ahLst/>
              <a:cxnLst/>
              <a:rect r="r" b="b" t="t" l="l"/>
              <a:pathLst>
                <a:path h="2787142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787142"/>
                  </a:lnTo>
                  <a:lnTo>
                    <a:pt x="0" y="278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8841867"/>
            <a:ext cx="715518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3. AI-Generated Model Answers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5360" y="8841867"/>
            <a:ext cx="715518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4. Personalized Tips &amp; 7-Day Strategy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Project Output Screenshot – Evaluation &amp; Mock Interview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0060" y="2582647"/>
            <a:ext cx="7886700" cy="5053117"/>
            <a:chOff x="0" y="0"/>
            <a:chExt cx="10515600" cy="6737490"/>
          </a:xfrm>
        </p:grpSpPr>
        <p:sp>
          <p:nvSpPr>
            <p:cNvPr name="Freeform 4" id="4" descr="77fb348c-7b97-4d39-b127-fa4611f4faaa.png"/>
            <p:cNvSpPr/>
            <p:nvPr/>
          </p:nvSpPr>
          <p:spPr>
            <a:xfrm flipH="false" flipV="false" rot="0">
              <a:off x="0" y="0"/>
              <a:ext cx="10515600" cy="6737477"/>
            </a:xfrm>
            <a:custGeom>
              <a:avLst/>
              <a:gdLst/>
              <a:ahLst/>
              <a:cxnLst/>
              <a:rect r="r" b="b" t="t" l="l"/>
              <a:pathLst>
                <a:path h="6737477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6737477"/>
                  </a:lnTo>
                  <a:lnTo>
                    <a:pt x="0" y="6737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641080" y="3280520"/>
            <a:ext cx="7886700" cy="3725961"/>
            <a:chOff x="0" y="0"/>
            <a:chExt cx="10515600" cy="4967948"/>
          </a:xfrm>
        </p:grpSpPr>
        <p:sp>
          <p:nvSpPr>
            <p:cNvPr name="Freeform 6" id="6" descr="659679a5-2e02-45bf-b92b-35c780959d7a.png"/>
            <p:cNvSpPr/>
            <p:nvPr/>
          </p:nvSpPr>
          <p:spPr>
            <a:xfrm flipH="false" flipV="false" rot="0">
              <a:off x="0" y="0"/>
              <a:ext cx="10515600" cy="4967986"/>
            </a:xfrm>
            <a:custGeom>
              <a:avLst/>
              <a:gdLst/>
              <a:ahLst/>
              <a:cxnLst/>
              <a:rect r="r" b="b" t="t" l="l"/>
              <a:pathLst>
                <a:path h="4967986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4967986"/>
                  </a:lnTo>
                  <a:lnTo>
                    <a:pt x="0" y="496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8841867"/>
            <a:ext cx="715518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5. AI Answer Evaluation &amp; Feedback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5360" y="8841867"/>
            <a:ext cx="715518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6. Interactive Mock Interview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Project Output Screenshot – Final Performance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0060" y="3204115"/>
            <a:ext cx="7886700" cy="3810181"/>
            <a:chOff x="0" y="0"/>
            <a:chExt cx="10515600" cy="5080241"/>
          </a:xfrm>
        </p:grpSpPr>
        <p:sp>
          <p:nvSpPr>
            <p:cNvPr name="Freeform 4" id="4" descr="47002315-d5d1-4e93-8fde-95b4976a560b.png"/>
            <p:cNvSpPr/>
            <p:nvPr/>
          </p:nvSpPr>
          <p:spPr>
            <a:xfrm flipH="false" flipV="false" rot="0">
              <a:off x="0" y="0"/>
              <a:ext cx="10515600" cy="5080254"/>
            </a:xfrm>
            <a:custGeom>
              <a:avLst/>
              <a:gdLst/>
              <a:ahLst/>
              <a:cxnLst/>
              <a:rect r="r" b="b" t="t" l="l"/>
              <a:pathLst>
                <a:path h="5080254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5080254"/>
                  </a:lnTo>
                  <a:lnTo>
                    <a:pt x="0" y="508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880501" y="2771489"/>
            <a:ext cx="7886700" cy="4428554"/>
            <a:chOff x="0" y="0"/>
            <a:chExt cx="10515600" cy="5904738"/>
          </a:xfrm>
        </p:grpSpPr>
        <p:sp>
          <p:nvSpPr>
            <p:cNvPr name="Freeform 6" id="6" descr="b3581580-ecc9-4df2-bafa-6579b79c3096.png"/>
            <p:cNvSpPr/>
            <p:nvPr/>
          </p:nvSpPr>
          <p:spPr>
            <a:xfrm flipH="false" flipV="false" rot="0">
              <a:off x="0" y="0"/>
              <a:ext cx="10515600" cy="5904738"/>
            </a:xfrm>
            <a:custGeom>
              <a:avLst/>
              <a:gdLst/>
              <a:ahLst/>
              <a:cxnLst/>
              <a:rect r="r" b="b" t="t" l="l"/>
              <a:pathLst>
                <a:path h="5904738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5904738"/>
                  </a:lnTo>
                  <a:lnTo>
                    <a:pt x="0" y="5904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8841867"/>
            <a:ext cx="715518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7. Final Mock Interview Feedback &amp; Performance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5172" y="8838343"/>
            <a:ext cx="715518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8. IBM Bob Development / Implementation Evidence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Novelty and Uniqueness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8720" y="1466850"/>
            <a:ext cx="14218920" cy="78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interview preparation based on role, experience level, skills, and background.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RAG-based retrieval connects interview generation with a curated knowledge base.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interview categories are generated in one workflow: technical, role-specific, HR, and behavioral.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 Evaluation provides structured scoring and actionable improvement guidance.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Mock Interview supports sequential questioning and session-level performance feedback.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Final Feedback module turns performance into a practical 7-day preparation plan.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Fallback Mode improves demonstration reliability when the live IBM Granite service is unavailable.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GitHub Link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5880" y="1672590"/>
            <a:ext cx="53035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Public GitHub Repository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04367" y="1619250"/>
            <a:ext cx="1236896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xmlns:ns0="http://schemas.openxmlformats.org/officeDocument/2006/relationships" ns0:id="rId2"/>
              </a:rPr>
              <a:t>https://github.com/SanketKolhe2005/AI-Interview-Trainer-Agent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8720" y="1466850"/>
            <a:ext cx="14218920" cy="788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 resume upload with automatic profile extraction.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Persistent interview history and progress tracking.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Voice-based mock interviews and speech-to-text answers.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Multilingual interview preparation.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analytics dashboards for answer quality and progress.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job roles, larger knowledge bases, and domain-specific interview tracks.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deployment and stronger user authentication/session management.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34160" y="2355840"/>
            <a:ext cx="12019679" cy="7396726"/>
          </a:xfrm>
          <a:custGeom>
            <a:avLst/>
            <a:gdLst/>
            <a:ahLst/>
            <a:cxnLst/>
            <a:rect r="r" b="b" t="t" l="l"/>
            <a:pathLst>
              <a:path h="7396726" w="12019679">
                <a:moveTo>
                  <a:pt x="0" y="0"/>
                </a:moveTo>
                <a:lnTo>
                  <a:pt x="12019680" y="0"/>
                </a:lnTo>
                <a:lnTo>
                  <a:pt x="12019680" y="7396726"/>
                </a:lnTo>
                <a:lnTo>
                  <a:pt x="0" y="7396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Certificate Earned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07098" y="1320165"/>
            <a:ext cx="398216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IBM BOB Certificate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3031" y="2260050"/>
            <a:ext cx="12161938" cy="7521804"/>
          </a:xfrm>
          <a:custGeom>
            <a:avLst/>
            <a:gdLst/>
            <a:ahLst/>
            <a:cxnLst/>
            <a:rect r="r" b="b" t="t" l="l"/>
            <a:pathLst>
              <a:path h="7521804" w="12161938">
                <a:moveTo>
                  <a:pt x="0" y="0"/>
                </a:moveTo>
                <a:lnTo>
                  <a:pt x="12161938" y="0"/>
                </a:lnTo>
                <a:lnTo>
                  <a:pt x="12161938" y="7521805"/>
                </a:lnTo>
                <a:lnTo>
                  <a:pt x="0" y="7521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982980" y="438150"/>
            <a:ext cx="153162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Certificate Earned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01478" y="1320165"/>
            <a:ext cx="119934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Credly certificate(Getting Started with Artificial Intelligence)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3514725"/>
            <a:ext cx="1353312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1F5896"/>
                </a:solidFill>
                <a:latin typeface="Arial Bold"/>
                <a:ea typeface="Arial Bold"/>
                <a:cs typeface="Arial Bold"/>
                <a:sym typeface="Arial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4886325"/>
            <a:ext cx="1353312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AI Interview Trainer Agent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718810"/>
            <a:ext cx="135331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AICTE IBM SkillsBuild – Problem Statement #22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DAHUylmUoB4</dc:identifier>
  <dcterms:modified xsi:type="dcterms:W3CDTF">2011-08-01T06:04:30Z</dcterms:modified>
  <cp:revision>1</cp:revision>
  <dc:title>sanket.kolhe@mitaoe.ac.in</dc:title>
</cp:coreProperties>
</file>